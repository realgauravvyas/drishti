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heme/theme1.xml" ContentType="application/vnd.openxmlformats-officedocument.theme+xml"/>
  <Override PartName="/ppt/viewProps1.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Lst>
  <p:sldSz cy="43891200" cx="329184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5"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46304" y="765282"/>
            <a:ext cx="32644080" cy="5166360"/>
          </a:xfrm>
          <a:prstGeom prst="roundRect">
            <a:avLst/>
          </a:prstGeom>
          <a:solidFill>
            <a:srgbClr val="FFFFFF"/>
          </a:solidFill>
          <a:ln w="31750">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4572000" y="2395728"/>
            <a:ext cx="23774400" cy="1188720"/>
          </a:xfrm>
          <a:prstGeom prst="rect">
            <a:avLst/>
          </a:prstGeom>
          <a:noFill/>
        </p:spPr>
        <p:txBody>
          <a:bodyPr wrap="square" anchor="ctr">
            <a:spAutoFit/>
          </a:bodyPr>
          <a:lstStyle/>
          <a:p>
            <a:pPr algn="ctr">
              <a:lnSpc>
                <a:spcPct val="112000"/>
              </a:lnSpc>
              <a:spcAft>
                <a:spcPts val="600"/>
              </a:spcAft>
            </a:pPr>
            <a:r>
              <a:rPr sz="4000" b="1">
                <a:solidFill>
                  <a:srgbClr val="083070"/>
                </a:solidFill>
                <a:latin typeface="Arial"/>
              </a:rPr>
              <a:t>DRISHTI: Resolving the Post-Disaster Information Fog by Treating Silence as Evidence</a:t>
            </a:r>
          </a:p>
        </p:txBody>
      </p:sp>
      <p:sp>
        <p:nvSpPr>
          <p:cNvPr id="6" name="TextBox 5"/>
          <p:cNvSpPr txBox="1"/>
          <p:nvPr/>
        </p:nvSpPr>
        <p:spPr>
          <a:xfrm>
            <a:off x="4572000" y="3675887"/>
            <a:ext cx="23774400" cy="530352"/>
          </a:xfrm>
          <a:prstGeom prst="rect">
            <a:avLst/>
          </a:prstGeom>
          <a:noFill/>
        </p:spPr>
        <p:txBody>
          <a:bodyPr wrap="square" anchor="ctr">
            <a:spAutoFit/>
          </a:bodyPr>
          <a:lstStyle/>
          <a:p>
            <a:pPr algn="ctr">
              <a:lnSpc>
                <a:spcPct val="112000"/>
              </a:lnSpc>
              <a:spcAft>
                <a:spcPts val="600"/>
              </a:spcAft>
            </a:pPr>
            <a:r>
              <a:rPr sz="2400" b="1">
                <a:solidFill>
                  <a:srgbClr val="111111"/>
                </a:solidFill>
                <a:latin typeface="Arial"/>
              </a:rPr>
              <a:t>Gaurav Vyas and Mandavi Singh</a:t>
            </a:r>
          </a:p>
        </p:txBody>
      </p:sp>
      <p:sp>
        <p:nvSpPr>
          <p:cNvPr id="7" name="TextBox 6"/>
          <p:cNvSpPr txBox="1"/>
          <p:nvPr/>
        </p:nvSpPr>
        <p:spPr>
          <a:xfrm>
            <a:off x="4572000" y="4224528"/>
            <a:ext cx="23774400" cy="548640"/>
          </a:xfrm>
          <a:prstGeom prst="rect">
            <a:avLst/>
          </a:prstGeom>
          <a:noFill/>
        </p:spPr>
        <p:txBody>
          <a:bodyPr wrap="square" anchor="ctr">
            <a:spAutoFit/>
          </a:bodyPr>
          <a:lstStyle/>
          <a:p>
            <a:pPr algn="ctr">
              <a:lnSpc>
                <a:spcPct val="112000"/>
              </a:lnSpc>
              <a:spcAft>
                <a:spcPts val="600"/>
              </a:spcAft>
            </a:pPr>
            <a:r>
              <a:rPr sz="2000" b="1">
                <a:solidFill>
                  <a:srgbClr val="111111"/>
                </a:solidFill>
                <a:latin typeface="Arial"/>
              </a:rPr>
              <a:t>Mehta Family School of Data Science and Artificial Intelligence, Indian Institute of Technology Guwahati</a:t>
            </a:r>
          </a:p>
        </p:txBody>
      </p:sp>
      <p:sp>
        <p:nvSpPr>
          <p:cNvPr id="8" name="TextBox 7"/>
          <p:cNvSpPr txBox="1"/>
          <p:nvPr/>
        </p:nvSpPr>
        <p:spPr>
          <a:xfrm>
            <a:off x="4572000" y="4864608"/>
            <a:ext cx="23774400" cy="502920"/>
          </a:xfrm>
          <a:prstGeom prst="rect">
            <a:avLst/>
          </a:prstGeom>
          <a:noFill/>
        </p:spPr>
        <p:txBody>
          <a:bodyPr wrap="square" anchor="ctr">
            <a:spAutoFit/>
          </a:bodyPr>
          <a:lstStyle/>
          <a:p>
            <a:pPr algn="ctr">
              <a:lnSpc>
                <a:spcPct val="112000"/>
              </a:lnSpc>
              <a:spcAft>
                <a:spcPts val="600"/>
              </a:spcAft>
            </a:pPr>
            <a:r>
              <a:rPr sz="1800" b="1">
                <a:solidFill>
                  <a:srgbClr val="083070"/>
                </a:solidFill>
                <a:latin typeface="Arial"/>
              </a:rPr>
              <a:t>g.vyas@op.iitg.ac.in   ·   s.mandavi@op.iitg.ac.in</a:t>
            </a:r>
          </a:p>
        </p:txBody>
      </p:sp>
      <p:sp>
        <p:nvSpPr>
          <p:cNvPr id="9" name="Rectangle 8"/>
          <p:cNvSpPr/>
          <p:nvPr/>
        </p:nvSpPr>
        <p:spPr>
          <a:xfrm>
            <a:off x="137160" y="5715000"/>
            <a:ext cx="5715000" cy="22631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37160" y="5715000"/>
            <a:ext cx="5715000"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5769864"/>
            <a:ext cx="5440680" cy="969264"/>
          </a:xfrm>
          <a:prstGeom prst="rect">
            <a:avLst/>
          </a:prstGeom>
          <a:noFill/>
        </p:spPr>
        <p:txBody>
          <a:bodyPr wrap="square" anchor="ctr">
            <a:spAutoFit/>
          </a:bodyPr>
          <a:lstStyle/>
          <a:p>
            <a:pPr algn="ctr"/>
            <a:r>
              <a:rPr sz="2400" b="1">
                <a:solidFill>
                  <a:srgbClr val="FFFFFF"/>
                </a:solidFill>
                <a:latin typeface="Arial"/>
              </a:rPr>
              <a:t>ABSTRACT</a:t>
            </a:r>
          </a:p>
        </p:txBody>
      </p:sp>
      <p:sp>
        <p:nvSpPr>
          <p:cNvPr id="12" name="TextBox 11"/>
          <p:cNvSpPr txBox="1"/>
          <p:nvPr/>
        </p:nvSpPr>
        <p:spPr>
          <a:xfrm>
            <a:off x="457200" y="7050024"/>
            <a:ext cx="5074920" cy="21049488"/>
          </a:xfrm>
          <a:prstGeom prst="rect">
            <a:avLst/>
          </a:prstGeom>
          <a:noFill/>
        </p:spPr>
        <p:txBody>
          <a:bodyPr wrap="square" anchor="t">
            <a:spAutoFit/>
          </a:bodyPr>
          <a:lstStyle/>
          <a:p>
            <a:pPr algn="l">
              <a:lnSpc>
                <a:spcPct val="112000"/>
              </a:lnSpc>
              <a:spcAft>
                <a:spcPts val="1300"/>
              </a:spcAft>
            </a:pPr>
            <a:r>
              <a:rPr sz="1950" b="0">
                <a:solidFill>
                  <a:srgbClr val="6E6E6E"/>
                </a:solidFill>
                <a:latin typeface="Arial"/>
              </a:rPr>
              <a:t>In the first 24 hours after a climate-driven multi-hazard event, a District Emergency Operations Centre (EOC) receives thousands of fragmented, contradictory and unverified ground reports, while severed roads prevent physical verification. Scarce rescue assets are therefore allocated to wherever reporting is loudest.</a:t>
            </a:r>
          </a:p>
          <a:p>
            <a:pPr algn="l">
              <a:lnSpc>
                <a:spcPct val="112000"/>
              </a:lnSpc>
              <a:spcAft>
                <a:spcPts val="1300"/>
              </a:spcAft>
            </a:pPr>
            <a:r>
              <a:rPr sz="1950" b="0">
                <a:solidFill>
                  <a:srgbClr val="6E6E6E"/>
                </a:solidFill>
                <a:latin typeface="Arial"/>
              </a:rPr>
              <a:t>We identify a systematic failure in this practice: report volume is non-monotonic in damage. Undamaged settlements generate no reports because there is nothing to report, and catastrophically damaged settlements also generate none because casualties and destroyed telecom infrastructure remove the reporters themselves. Volume-based triage therefore ranks destroyed villages alongside safe ones.</a:t>
            </a:r>
          </a:p>
          <a:p>
            <a:pPr algn="l">
              <a:lnSpc>
                <a:spcPct val="112000"/>
              </a:lnSpc>
              <a:spcAft>
                <a:spcPts val="1300"/>
              </a:spcAft>
            </a:pPr>
            <a:r>
              <a:rPr sz="1950" b="0">
                <a:solidFill>
                  <a:srgbClr val="6E6E6E"/>
                </a:solidFill>
                <a:latin typeface="Arial"/>
              </a:rPr>
              <a:t>DRISHTI reframes the task from establishing truth to maintaining a calibrated belief. Reports are geo-resolved to a probability distribution over settlements, parsed for claims, clustered so that amplified rumour cannot masquerade as corroboration, and fused by Dempster-Shafer combination of simple support functions in closed form. Critically, ABSENCE is converted into positive evidence by fusing telecom-tower liveness, chatter deficit against a population baseline, and terrain exposure.</a:t>
            </a:r>
          </a:p>
          <a:p>
            <a:pPr algn="l">
              <a:lnSpc>
                <a:spcPct val="112000"/>
              </a:lnSpc>
              <a:spcAft>
                <a:spcPts val="1300"/>
              </a:spcAft>
            </a:pPr>
            <a:r>
              <a:rPr sz="1950" b="0">
                <a:solidFill>
                  <a:srgbClr val="6E6E6E"/>
                </a:solidFill>
                <a:latin typeface="Arial"/>
              </a:rPr>
              <a:t>Evaluated on a 1,102-settlement district built from OpenStreetMap with hidden ground truth, DRISHTI reaches 6,057 of 10,928 affected people within 24 h against 1,006 for volume ranking, using identical assets. For the 492 settlements that emit no reports at all, report-driven ranking is statistically indistinguishable from chance (AUC 0.500) whereas DRISHTI attains 0.848.</a:t>
            </a:r>
          </a:p>
          <a:p>
            <a:pPr algn="l">
              <a:lnSpc>
                <a:spcPct val="112000"/>
              </a:lnSpc>
              <a:spcAft>
                <a:spcPts val="1300"/>
              </a:spcAft>
            </a:pPr>
            <a:r>
              <a:rPr sz="1950" b="1">
                <a:solidFill>
                  <a:srgbClr val="083070"/>
                </a:solidFill>
                <a:latin typeface="Arial"/>
              </a:rPr>
              <a:t>Keywords: disaster informatics, evidence fusion, Dempster-Shafer theory, climate resilience, humanitarian logistics, open geospatial data</a:t>
            </a:r>
          </a:p>
          <a:p>
            <a:pPr algn="l">
              <a:lnSpc>
                <a:spcPct val="112000"/>
              </a:lnSpc>
              <a:spcAft>
                <a:spcPts val="1300"/>
              </a:spcAft>
            </a:pPr>
            <a:r>
              <a:rPr sz="950" b="0">
                <a:solidFill>
                  <a:srgbClr val="6E6E6E"/>
                </a:solidFill>
                <a:latin typeface="Arial"/>
              </a:rPr>
              <a:t/>
            </a:r>
          </a:p>
          <a:p>
            <a:pPr algn="l">
              <a:lnSpc>
                <a:spcPct val="112000"/>
              </a:lnSpc>
              <a:spcAft>
                <a:spcPts val="1300"/>
              </a:spcAft>
            </a:pPr>
            <a:r>
              <a:rPr sz="2350" b="1">
                <a:solidFill>
                  <a:srgbClr val="083070"/>
                </a:solidFill>
                <a:latin typeface="Arial"/>
              </a:rPr>
              <a:t>KEY OUTCOMES</a:t>
            </a:r>
          </a:p>
          <a:p>
            <a:pPr algn="l">
              <a:lnSpc>
                <a:spcPct val="112000"/>
              </a:lnSpc>
              <a:spcAft>
                <a:spcPts val="1300"/>
              </a:spcAft>
            </a:pPr>
            <a:r>
              <a:rPr sz="1950" b="0">
                <a:solidFill>
                  <a:srgbClr val="6E6E6E"/>
                </a:solidFill>
                <a:latin typeface="Arial"/>
              </a:rPr>
              <a:t>•  6.0x more affected people reached with identical assets</a:t>
            </a:r>
          </a:p>
          <a:p>
            <a:pPr algn="l">
              <a:lnSpc>
                <a:spcPct val="112000"/>
              </a:lnSpc>
              <a:spcAft>
                <a:spcPts val="1300"/>
              </a:spcAft>
            </a:pPr>
            <a:r>
              <a:rPr sz="1950" b="0">
                <a:solidFill>
                  <a:srgbClr val="6E6E6E"/>
                </a:solidFill>
                <a:latin typeface="Arial"/>
              </a:rPr>
              <a:t>•  AUC 0.848 vs 0.500 on settlements that never reported</a:t>
            </a:r>
          </a:p>
          <a:p>
            <a:pPr algn="l">
              <a:lnSpc>
                <a:spcPct val="112000"/>
              </a:lnSpc>
              <a:spcAft>
                <a:spcPts val="1300"/>
              </a:spcAft>
            </a:pPr>
            <a:r>
              <a:rPr sz="1950" b="0">
                <a:solidFill>
                  <a:srgbClr val="6E6E6E"/>
                </a:solidFill>
                <a:latin typeface="Arial"/>
              </a:rPr>
              <a:t>•  Blackout detection at 64% precision vs 34% base rate</a:t>
            </a:r>
          </a:p>
          <a:p>
            <a:pPr algn="l">
              <a:lnSpc>
                <a:spcPct val="112000"/>
              </a:lnSpc>
              <a:spcAft>
                <a:spcPts val="1300"/>
              </a:spcAft>
            </a:pPr>
            <a:r>
              <a:rPr sz="1950" b="0">
                <a:solidFill>
                  <a:srgbClr val="6E6E6E"/>
                </a:solidFill>
                <a:latin typeface="Arial"/>
              </a:rPr>
              <a:t>•  ~900 of 3,256 reports suppressed as panic amplification</a:t>
            </a:r>
          </a:p>
          <a:p>
            <a:pPr algn="l">
              <a:lnSpc>
                <a:spcPct val="112000"/>
              </a:lnSpc>
              <a:spcAft>
                <a:spcPts val="1300"/>
              </a:spcAft>
            </a:pPr>
            <a:r>
              <a:rPr sz="1950" b="0">
                <a:solidFill>
                  <a:srgbClr val="6E6E6E"/>
                </a:solidFill>
                <a:latin typeface="Arial"/>
              </a:rPr>
              <a:t>•  Runs offline on one laptop  ·  zero licence or cloud cost</a:t>
            </a:r>
          </a:p>
        </p:txBody>
      </p:sp>
      <p:sp>
        <p:nvSpPr>
          <p:cNvPr id="13" name="Rectangle 12"/>
          <p:cNvSpPr/>
          <p:nvPr/>
        </p:nvSpPr>
        <p:spPr>
          <a:xfrm>
            <a:off x="137160" y="28620720"/>
            <a:ext cx="5715000" cy="151333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37160" y="28620720"/>
            <a:ext cx="5715000"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28675584"/>
            <a:ext cx="5440680" cy="969264"/>
          </a:xfrm>
          <a:prstGeom prst="rect">
            <a:avLst/>
          </a:prstGeom>
          <a:noFill/>
        </p:spPr>
        <p:txBody>
          <a:bodyPr wrap="square" anchor="ctr">
            <a:spAutoFit/>
          </a:bodyPr>
          <a:lstStyle/>
          <a:p>
            <a:pPr algn="ctr"/>
            <a:r>
              <a:rPr sz="2400" b="1">
                <a:solidFill>
                  <a:srgbClr val="FFFFFF"/>
                </a:solidFill>
                <a:latin typeface="Arial"/>
              </a:rPr>
              <a:t>DISCUSSION</a:t>
            </a:r>
          </a:p>
        </p:txBody>
      </p:sp>
      <p:sp>
        <p:nvSpPr>
          <p:cNvPr id="16" name="TextBox 15"/>
          <p:cNvSpPr txBox="1"/>
          <p:nvPr/>
        </p:nvSpPr>
        <p:spPr>
          <a:xfrm>
            <a:off x="457200" y="29955744"/>
            <a:ext cx="5074920" cy="13551408"/>
          </a:xfrm>
          <a:prstGeom prst="rect">
            <a:avLst/>
          </a:prstGeom>
          <a:noFill/>
        </p:spPr>
        <p:txBody>
          <a:bodyPr wrap="square" anchor="t">
            <a:spAutoFit/>
          </a:bodyPr>
          <a:lstStyle/>
          <a:p>
            <a:pPr algn="l">
              <a:lnSpc>
                <a:spcPct val="112000"/>
              </a:lnSpc>
              <a:spcAft>
                <a:spcPts val="1200"/>
              </a:spcAft>
            </a:pPr>
            <a:r>
              <a:rPr sz="1900" b="0">
                <a:solidFill>
                  <a:srgbClr val="6E6E6E"/>
                </a:solidFill>
                <a:latin typeface="Arial"/>
              </a:rPr>
              <a:t>Why silence is hard.  An undamaged village and a destroyed village are both silent, so report volume alone can never separate them. We resolve this with telecom-tower liveness, an observation about the PLACE rather than about whether anyone had something to say.</a:t>
            </a:r>
          </a:p>
          <a:p>
            <a:pPr algn="l">
              <a:lnSpc>
                <a:spcPct val="112000"/>
              </a:lnSpc>
              <a:spcAft>
                <a:spcPts val="1200"/>
              </a:spcAft>
            </a:pPr>
            <a:r>
              <a:rPr sz="1900" b="0">
                <a:solidFill>
                  <a:srgbClr val="6E6E6E"/>
                </a:solidFill>
                <a:latin typeface="Arial"/>
              </a:rPr>
              <a:t>Tower loss is not proof.  In our scenario 51% of undamaged settlements also lose their tower, because the grid is cut district-wide to prevent electrocution. Tower-down is therefore treated as weak evidence and never used alone; terrain exposure supplies the prior that separates structural collapse from a generator that ran dry.</a:t>
            </a:r>
          </a:p>
          <a:p>
            <a:pPr algn="l">
              <a:lnSpc>
                <a:spcPct val="112000"/>
              </a:lnSpc>
              <a:spcAft>
                <a:spcPts val="1200"/>
              </a:spcAft>
            </a:pPr>
            <a:r>
              <a:rPr sz="1900" b="0">
                <a:solidFill>
                  <a:srgbClr val="6E6E6E"/>
                </a:solidFill>
                <a:latin typeface="Arial"/>
              </a:rPr>
              <a:t>Guarding against circular evaluation.  An early version of our simulator generated damage from the same terrain variables the engine's prior consumes, yielding an inflated AUC of 0.98. We introduced a spatially-correlated latent vulnerability field (building stock, drainage, upstream release) that no free map layer reveals. The honest figure is 0.857.</a:t>
            </a:r>
          </a:p>
          <a:p>
            <a:pPr algn="l">
              <a:lnSpc>
                <a:spcPct val="112000"/>
              </a:lnSpc>
              <a:spcAft>
                <a:spcPts val="1200"/>
              </a:spcAft>
            </a:pPr>
            <a:r>
              <a:rPr sz="1900" b="0">
                <a:solidFill>
                  <a:srgbClr val="6E6E6E"/>
                </a:solidFill>
                <a:latin typeface="Arial"/>
              </a:rPr>
              <a:t>Ablation.  Removing the silence engine costs 0.061 AUC overall and 0.137 on non-reporting settlements, confirming that absence carries genuine information rather than acting as a tie-breaker.</a:t>
            </a:r>
          </a:p>
          <a:p>
            <a:pPr algn="l">
              <a:lnSpc>
                <a:spcPct val="112000"/>
              </a:lnSpc>
              <a:spcAft>
                <a:spcPts val="1200"/>
              </a:spcAft>
            </a:pPr>
            <a:r>
              <a:rPr sz="1900" b="0">
                <a:solidFill>
                  <a:srgbClr val="6E6E6E"/>
                </a:solidFill>
                <a:latin typeface="Arial"/>
              </a:rPr>
              <a:t>Limitations.  Ground truth is simulated, since no labelled multi-hazard report corpus exists for an Indian district; population is estimated from OSM place class where census figures are absent; and the telecom feed is modelled rather than live. None of these affect the architecture, only the calibration constants.</a:t>
            </a:r>
          </a:p>
        </p:txBody>
      </p:sp>
      <p:sp>
        <p:nvSpPr>
          <p:cNvPr id="17" name="Rectangle 16"/>
          <p:cNvSpPr/>
          <p:nvPr/>
        </p:nvSpPr>
        <p:spPr>
          <a:xfrm>
            <a:off x="6108192" y="5715000"/>
            <a:ext cx="13578840" cy="7680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08192" y="5715000"/>
            <a:ext cx="13578840"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45352" y="5769864"/>
            <a:ext cx="13304519" cy="969264"/>
          </a:xfrm>
          <a:prstGeom prst="rect">
            <a:avLst/>
          </a:prstGeom>
          <a:noFill/>
        </p:spPr>
        <p:txBody>
          <a:bodyPr wrap="square" anchor="ctr">
            <a:spAutoFit/>
          </a:bodyPr>
          <a:lstStyle/>
          <a:p>
            <a:pPr algn="ctr"/>
            <a:r>
              <a:rPr sz="2400" b="1">
                <a:solidFill>
                  <a:srgbClr val="FFFFFF"/>
                </a:solidFill>
                <a:latin typeface="Arial"/>
              </a:rPr>
              <a:t>MOTIVATION</a:t>
            </a:r>
          </a:p>
        </p:txBody>
      </p:sp>
      <p:sp>
        <p:nvSpPr>
          <p:cNvPr id="20" name="TextBox 19"/>
          <p:cNvSpPr txBox="1"/>
          <p:nvPr/>
        </p:nvSpPr>
        <p:spPr>
          <a:xfrm>
            <a:off x="6428232" y="7050024"/>
            <a:ext cx="12938760" cy="6099048"/>
          </a:xfrm>
          <a:prstGeom prst="rect">
            <a:avLst/>
          </a:prstGeom>
          <a:noFill/>
        </p:spPr>
        <p:txBody>
          <a:bodyPr wrap="square" anchor="t">
            <a:spAutoFit/>
          </a:bodyPr>
          <a:lstStyle/>
          <a:p>
            <a:pPr algn="l">
              <a:lnSpc>
                <a:spcPct val="112000"/>
              </a:lnSpc>
              <a:spcAft>
                <a:spcPts val="600"/>
              </a:spcAft>
            </a:pPr>
            <a:r>
              <a:rPr sz="1200" b="0">
                <a:solidFill>
                  <a:srgbClr val="6E6E6E"/>
                </a:solidFill>
                <a:latin typeface="Arial"/>
              </a:rPr>
              <a:t/>
            </a:r>
          </a:p>
        </p:txBody>
      </p:sp>
      <p:sp>
        <p:nvSpPr>
          <p:cNvPr id="21" name="Rectangle 20"/>
          <p:cNvSpPr/>
          <p:nvPr/>
        </p:nvSpPr>
        <p:spPr>
          <a:xfrm>
            <a:off x="19943064" y="5715000"/>
            <a:ext cx="12838176" cy="7680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9943064" y="5715000"/>
            <a:ext cx="12838176"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080224" y="5769864"/>
            <a:ext cx="12563856" cy="969264"/>
          </a:xfrm>
          <a:prstGeom prst="rect">
            <a:avLst/>
          </a:prstGeom>
          <a:noFill/>
        </p:spPr>
        <p:txBody>
          <a:bodyPr wrap="square" anchor="ctr">
            <a:spAutoFit/>
          </a:bodyPr>
          <a:lstStyle/>
          <a:p>
            <a:pPr algn="ctr"/>
            <a:r>
              <a:rPr sz="2400" b="1">
                <a:solidFill>
                  <a:srgbClr val="FFFFFF"/>
                </a:solidFill>
                <a:latin typeface="Arial"/>
              </a:rPr>
              <a:t>OBJECTIVES</a:t>
            </a:r>
          </a:p>
        </p:txBody>
      </p:sp>
      <p:sp>
        <p:nvSpPr>
          <p:cNvPr id="24" name="TextBox 23"/>
          <p:cNvSpPr txBox="1"/>
          <p:nvPr/>
        </p:nvSpPr>
        <p:spPr>
          <a:xfrm>
            <a:off x="20263104" y="7050024"/>
            <a:ext cx="12198096" cy="6099048"/>
          </a:xfrm>
          <a:prstGeom prst="rect">
            <a:avLst/>
          </a:prstGeom>
          <a:noFill/>
        </p:spPr>
        <p:txBody>
          <a:bodyPr wrap="square" anchor="t">
            <a:spAutoFit/>
          </a:bodyPr>
          <a:lstStyle/>
          <a:p>
            <a:pPr algn="l">
              <a:lnSpc>
                <a:spcPct val="112000"/>
              </a:lnSpc>
              <a:spcAft>
                <a:spcPts val="600"/>
              </a:spcAft>
            </a:pPr>
            <a:r>
              <a:rPr sz="1800" b="0">
                <a:solidFill>
                  <a:srgbClr val="6E6E6E"/>
                </a:solidFill>
                <a:latin typeface="Arial"/>
              </a:rPr>
              <a:t>1.  Quantify the non-monotonic relationship between damage severity and citizen-report volume, and its effect on asset allocation.</a:t>
            </a:r>
          </a:p>
          <a:p>
            <a:pPr algn="l">
              <a:lnSpc>
                <a:spcPct val="112000"/>
              </a:lnSpc>
              <a:spcAft>
                <a:spcPts val="600"/>
              </a:spcAft>
            </a:pPr>
            <a:r>
              <a:rPr sz="1800" b="0">
                <a:solidFill>
                  <a:srgbClr val="6E6E6E"/>
                </a:solidFill>
                <a:latin typeface="Arial"/>
              </a:rPr>
              <a:t>2.  Fuse heterogeneous, contradictory reports into a per-settlement belief distribution that states its own confidence.</a:t>
            </a:r>
          </a:p>
          <a:p>
            <a:pPr algn="l">
              <a:lnSpc>
                <a:spcPct val="112000"/>
              </a:lnSpc>
              <a:spcAft>
                <a:spcPts val="600"/>
              </a:spcAft>
            </a:pPr>
            <a:r>
              <a:rPr sz="1800" b="0">
                <a:solidFill>
                  <a:srgbClr val="6E6E6E"/>
                </a:solidFill>
                <a:latin typeface="Arial"/>
              </a:rPr>
              <a:t>3.  Convert the ABSENCE of expected reports into positive, calibrated evidence of catastrophe, separating “quiet because unharmed” from “quiet because destroyed”.</a:t>
            </a:r>
          </a:p>
          <a:p>
            <a:pPr algn="l">
              <a:lnSpc>
                <a:spcPct val="112000"/>
              </a:lnSpc>
              <a:spcAft>
                <a:spcPts val="600"/>
              </a:spcAft>
            </a:pPr>
            <a:r>
              <a:rPr sz="1800" b="0">
                <a:solidFill>
                  <a:srgbClr val="6E6E6E"/>
                </a:solidFill>
                <a:latin typeface="Arial"/>
              </a:rPr>
              <a:t>4.  Suppress rumour amplification so that repetition is not mistaken for independent corroboration.</a:t>
            </a:r>
          </a:p>
          <a:p>
            <a:pPr algn="l">
              <a:lnSpc>
                <a:spcPct val="112000"/>
              </a:lnSpc>
              <a:spcAft>
                <a:spcPts val="600"/>
              </a:spcAft>
            </a:pPr>
            <a:r>
              <a:rPr sz="1800" b="0">
                <a:solidFill>
                  <a:srgbClr val="6E6E6E"/>
                </a:solidFill>
                <a:latin typeface="Arial"/>
              </a:rPr>
              <a:t>5.  Produce two distinct operational queues — rescue under confidence, reconnaissance under uncertainty — routed over a damaged network.</a:t>
            </a:r>
          </a:p>
          <a:p>
            <a:pPr algn="l">
              <a:lnSpc>
                <a:spcPct val="112000"/>
              </a:lnSpc>
              <a:spcAft>
                <a:spcPts val="600"/>
              </a:spcAft>
            </a:pPr>
            <a:r>
              <a:rPr sz="1800" b="0">
                <a:solidFill>
                  <a:srgbClr val="6E6E6E"/>
                </a:solidFill>
                <a:latin typeface="Arial"/>
              </a:rPr>
              <a:t>6.  Deliver the whole system on free and open data at zero marginal cost, deployable on existing district hardware.</a:t>
            </a:r>
          </a:p>
        </p:txBody>
      </p:sp>
      <p:sp>
        <p:nvSpPr>
          <p:cNvPr id="25" name="Rectangle 24"/>
          <p:cNvSpPr/>
          <p:nvPr/>
        </p:nvSpPr>
        <p:spPr>
          <a:xfrm>
            <a:off x="6108192" y="13670280"/>
            <a:ext cx="10104120" cy="7635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08192" y="13670280"/>
            <a:ext cx="10104120"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45352" y="13725144"/>
            <a:ext cx="9829800" cy="969264"/>
          </a:xfrm>
          <a:prstGeom prst="rect">
            <a:avLst/>
          </a:prstGeom>
          <a:noFill/>
        </p:spPr>
        <p:txBody>
          <a:bodyPr wrap="square" anchor="ctr">
            <a:spAutoFit/>
          </a:bodyPr>
          <a:lstStyle/>
          <a:p>
            <a:pPr algn="ctr"/>
            <a:r>
              <a:rPr sz="2400" b="1">
                <a:solidFill>
                  <a:srgbClr val="FFFFFF"/>
                </a:solidFill>
                <a:latin typeface="Arial"/>
              </a:rPr>
              <a:t>MATERIALS AND METHOD</a:t>
            </a:r>
          </a:p>
        </p:txBody>
      </p:sp>
      <p:sp>
        <p:nvSpPr>
          <p:cNvPr id="28" name="TextBox 27"/>
          <p:cNvSpPr txBox="1"/>
          <p:nvPr/>
        </p:nvSpPr>
        <p:spPr>
          <a:xfrm>
            <a:off x="6428232" y="15005304"/>
            <a:ext cx="9464040" cy="6053328"/>
          </a:xfrm>
          <a:prstGeom prst="rect">
            <a:avLst/>
          </a:prstGeom>
          <a:noFill/>
        </p:spPr>
        <p:txBody>
          <a:bodyPr wrap="square" anchor="t">
            <a:spAutoFit/>
          </a:bodyPr>
          <a:lstStyle/>
          <a:p>
            <a:pPr algn="l">
              <a:lnSpc>
                <a:spcPct val="112000"/>
              </a:lnSpc>
              <a:spcAft>
                <a:spcPts val="600"/>
              </a:spcAft>
            </a:pPr>
            <a:r>
              <a:rPr sz="1200" b="0">
                <a:solidFill>
                  <a:srgbClr val="6E6E6E"/>
                </a:solidFill>
                <a:latin typeface="Arial"/>
              </a:rPr>
              <a:t/>
            </a:r>
          </a:p>
        </p:txBody>
      </p:sp>
      <p:sp>
        <p:nvSpPr>
          <p:cNvPr id="29" name="Rectangle 28"/>
          <p:cNvSpPr/>
          <p:nvPr/>
        </p:nvSpPr>
        <p:spPr>
          <a:xfrm>
            <a:off x="16468344" y="13670280"/>
            <a:ext cx="9006840" cy="7635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6468344" y="13670280"/>
            <a:ext cx="9006840"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6605504" y="13725144"/>
            <a:ext cx="8732519" cy="969264"/>
          </a:xfrm>
          <a:prstGeom prst="rect">
            <a:avLst/>
          </a:prstGeom>
          <a:noFill/>
        </p:spPr>
        <p:txBody>
          <a:bodyPr wrap="square" anchor="ctr">
            <a:spAutoFit/>
          </a:bodyPr>
          <a:lstStyle/>
          <a:p>
            <a:pPr algn="ctr"/>
            <a:r>
              <a:rPr sz="2400" b="1">
                <a:solidFill>
                  <a:srgbClr val="FFFFFF"/>
                </a:solidFill>
                <a:latin typeface="Arial"/>
              </a:rPr>
              <a:t>EXPERIMENTAL SETUP</a:t>
            </a:r>
          </a:p>
        </p:txBody>
      </p:sp>
      <p:sp>
        <p:nvSpPr>
          <p:cNvPr id="32" name="TextBox 31"/>
          <p:cNvSpPr txBox="1"/>
          <p:nvPr/>
        </p:nvSpPr>
        <p:spPr>
          <a:xfrm>
            <a:off x="16788384" y="15005304"/>
            <a:ext cx="8366760" cy="6053328"/>
          </a:xfrm>
          <a:prstGeom prst="rect">
            <a:avLst/>
          </a:prstGeom>
          <a:noFill/>
        </p:spPr>
        <p:txBody>
          <a:bodyPr wrap="square" anchor="t">
            <a:spAutoFit/>
          </a:bodyPr>
          <a:lstStyle/>
          <a:p>
            <a:pPr algn="l">
              <a:lnSpc>
                <a:spcPct val="112000"/>
              </a:lnSpc>
              <a:spcAft>
                <a:spcPts val="600"/>
              </a:spcAft>
            </a:pPr>
            <a:r>
              <a:rPr sz="1200" b="0">
                <a:solidFill>
                  <a:srgbClr val="6E6E6E"/>
                </a:solidFill>
                <a:latin typeface="Arial"/>
              </a:rPr>
              <a:t/>
            </a:r>
          </a:p>
        </p:txBody>
      </p:sp>
      <p:sp>
        <p:nvSpPr>
          <p:cNvPr id="33" name="Rectangle 32"/>
          <p:cNvSpPr/>
          <p:nvPr/>
        </p:nvSpPr>
        <p:spPr>
          <a:xfrm>
            <a:off x="25731216" y="13670280"/>
            <a:ext cx="7050024" cy="7635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731216" y="13670280"/>
            <a:ext cx="7050024"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5868376" y="13725144"/>
            <a:ext cx="6775704" cy="969264"/>
          </a:xfrm>
          <a:prstGeom prst="rect">
            <a:avLst/>
          </a:prstGeom>
          <a:noFill/>
        </p:spPr>
        <p:txBody>
          <a:bodyPr wrap="square" anchor="ctr">
            <a:spAutoFit/>
          </a:bodyPr>
          <a:lstStyle/>
          <a:p>
            <a:pPr algn="ctr"/>
            <a:r>
              <a:rPr sz="2400" b="1">
                <a:solidFill>
                  <a:srgbClr val="FFFFFF"/>
                </a:solidFill>
                <a:latin typeface="Arial"/>
              </a:rPr>
              <a:t>MECHANISM</a:t>
            </a:r>
          </a:p>
        </p:txBody>
      </p:sp>
      <p:sp>
        <p:nvSpPr>
          <p:cNvPr id="36" name="TextBox 35"/>
          <p:cNvSpPr txBox="1"/>
          <p:nvPr/>
        </p:nvSpPr>
        <p:spPr>
          <a:xfrm>
            <a:off x="26051256" y="15005304"/>
            <a:ext cx="6409944" cy="6053328"/>
          </a:xfrm>
          <a:prstGeom prst="rect">
            <a:avLst/>
          </a:prstGeom>
          <a:noFill/>
        </p:spPr>
        <p:txBody>
          <a:bodyPr wrap="square" anchor="t">
            <a:spAutoFit/>
          </a:bodyPr>
          <a:lstStyle/>
          <a:p>
            <a:pPr algn="l">
              <a:lnSpc>
                <a:spcPct val="112000"/>
              </a:lnSpc>
              <a:spcAft>
                <a:spcPts val="600"/>
              </a:spcAft>
            </a:pPr>
            <a:r>
              <a:rPr sz="1200" b="0">
                <a:solidFill>
                  <a:srgbClr val="6E6E6E"/>
                </a:solidFill>
                <a:latin typeface="Arial"/>
              </a:rPr>
              <a:t/>
            </a:r>
          </a:p>
        </p:txBody>
      </p:sp>
      <p:sp>
        <p:nvSpPr>
          <p:cNvPr id="37" name="Rectangle 36"/>
          <p:cNvSpPr/>
          <p:nvPr/>
        </p:nvSpPr>
        <p:spPr>
          <a:xfrm>
            <a:off x="6108192" y="21598128"/>
            <a:ext cx="26673048" cy="15636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108192" y="21598128"/>
            <a:ext cx="26673048"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1652992"/>
            <a:ext cx="26398728" cy="969264"/>
          </a:xfrm>
          <a:prstGeom prst="rect">
            <a:avLst/>
          </a:prstGeom>
          <a:noFill/>
        </p:spPr>
        <p:txBody>
          <a:bodyPr wrap="square" anchor="ctr">
            <a:spAutoFit/>
          </a:bodyPr>
          <a:lstStyle/>
          <a:p>
            <a:pPr algn="ctr"/>
            <a:r>
              <a:rPr sz="2400" b="1">
                <a:solidFill>
                  <a:srgbClr val="FFFFFF"/>
                </a:solidFill>
                <a:latin typeface="Arial"/>
              </a:rPr>
              <a:t>RESULT</a:t>
            </a:r>
          </a:p>
        </p:txBody>
      </p:sp>
      <p:sp>
        <p:nvSpPr>
          <p:cNvPr id="40" name="Rectangle 39"/>
          <p:cNvSpPr/>
          <p:nvPr/>
        </p:nvSpPr>
        <p:spPr>
          <a:xfrm>
            <a:off x="6455664" y="23015448"/>
            <a:ext cx="8476488" cy="6537960"/>
          </a:xfrm>
          <a:prstGeom prst="rect">
            <a:avLst/>
          </a:prstGeom>
          <a:solidFill>
            <a:srgbClr val="FFFFFF"/>
          </a:solidFill>
          <a:ln w="19050">
            <a:solidFill>
              <a:srgbClr val="6E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92824" y="25438608"/>
            <a:ext cx="8202167" cy="1005840"/>
          </a:xfrm>
          <a:prstGeom prst="rect">
            <a:avLst/>
          </a:prstGeom>
          <a:noFill/>
        </p:spPr>
        <p:txBody>
          <a:bodyPr wrap="square" anchor="t">
            <a:spAutoFit/>
          </a:bodyPr>
          <a:lstStyle/>
          <a:p>
            <a:pPr algn="l">
              <a:lnSpc>
                <a:spcPct val="112000"/>
              </a:lnSpc>
              <a:spcAft>
                <a:spcPts val="600"/>
              </a:spcAft>
            </a:pPr>
            <a:r>
              <a:rPr sz="1200" b="0">
                <a:solidFill>
                  <a:srgbClr val="6E6E6E"/>
                </a:solidFill>
                <a:latin typeface="Arial"/>
              </a:rPr>
              <a:t/>
            </a:r>
          </a:p>
        </p:txBody>
      </p:sp>
      <p:sp>
        <p:nvSpPr>
          <p:cNvPr id="42" name="TextBox 41"/>
          <p:cNvSpPr txBox="1"/>
          <p:nvPr/>
        </p:nvSpPr>
        <p:spPr>
          <a:xfrm>
            <a:off x="6592824" y="29690568"/>
            <a:ext cx="8202167" cy="685800"/>
          </a:xfrm>
          <a:prstGeom prst="rect">
            <a:avLst/>
          </a:prstGeom>
          <a:noFill/>
        </p:spPr>
        <p:txBody>
          <a:bodyPr wrap="square" anchor="t">
            <a:spAutoFit/>
          </a:bodyPr>
          <a:lstStyle/>
          <a:p>
            <a:pPr algn="l">
              <a:lnSpc>
                <a:spcPct val="112000"/>
              </a:lnSpc>
              <a:spcAft>
                <a:spcPts val="600"/>
              </a:spcAft>
            </a:pPr>
            <a:r>
              <a:rPr sz="1500" b="0">
                <a:solidFill>
                  <a:srgbClr val="6E6E6E"/>
                </a:solidFill>
                <a:latin typeface="Arial"/>
              </a:rPr>
              <a:t>Fig. 1  People reached within 24 h under a fixed 40-asset budget.</a:t>
            </a:r>
          </a:p>
        </p:txBody>
      </p:sp>
      <p:sp>
        <p:nvSpPr>
          <p:cNvPr id="43" name="Rectangle 42"/>
          <p:cNvSpPr/>
          <p:nvPr/>
        </p:nvSpPr>
        <p:spPr>
          <a:xfrm>
            <a:off x="15206472" y="23015448"/>
            <a:ext cx="8476488" cy="6537960"/>
          </a:xfrm>
          <a:prstGeom prst="rect">
            <a:avLst/>
          </a:prstGeom>
          <a:solidFill>
            <a:srgbClr val="FFFFFF"/>
          </a:solidFill>
          <a:ln w="19050">
            <a:solidFill>
              <a:srgbClr val="6E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5343632" y="25438608"/>
            <a:ext cx="8202167" cy="1005840"/>
          </a:xfrm>
          <a:prstGeom prst="rect">
            <a:avLst/>
          </a:prstGeom>
          <a:noFill/>
        </p:spPr>
        <p:txBody>
          <a:bodyPr wrap="square" anchor="t">
            <a:spAutoFit/>
          </a:bodyPr>
          <a:lstStyle/>
          <a:p>
            <a:pPr algn="l">
              <a:lnSpc>
                <a:spcPct val="112000"/>
              </a:lnSpc>
              <a:spcAft>
                <a:spcPts val="600"/>
              </a:spcAft>
            </a:pPr>
            <a:r>
              <a:rPr sz="1200" b="0">
                <a:solidFill>
                  <a:srgbClr val="6E6E6E"/>
                </a:solidFill>
                <a:latin typeface="Arial"/>
              </a:rPr>
              <a:t/>
            </a:r>
          </a:p>
        </p:txBody>
      </p:sp>
      <p:sp>
        <p:nvSpPr>
          <p:cNvPr id="45" name="TextBox 44"/>
          <p:cNvSpPr txBox="1"/>
          <p:nvPr/>
        </p:nvSpPr>
        <p:spPr>
          <a:xfrm>
            <a:off x="15343632" y="29690568"/>
            <a:ext cx="8202167" cy="685800"/>
          </a:xfrm>
          <a:prstGeom prst="rect">
            <a:avLst/>
          </a:prstGeom>
          <a:noFill/>
        </p:spPr>
        <p:txBody>
          <a:bodyPr wrap="square" anchor="t">
            <a:spAutoFit/>
          </a:bodyPr>
          <a:lstStyle/>
          <a:p>
            <a:pPr algn="l">
              <a:lnSpc>
                <a:spcPct val="112000"/>
              </a:lnSpc>
              <a:spcAft>
                <a:spcPts val="600"/>
              </a:spcAft>
            </a:pPr>
            <a:r>
              <a:rPr sz="1500" b="0">
                <a:solidFill>
                  <a:srgbClr val="6E6E6E"/>
                </a:solidFill>
                <a:latin typeface="Arial"/>
              </a:rPr>
              <a:t>Fig. 2  Detection accuracy on the 492 settlements emitting no reports.</a:t>
            </a:r>
          </a:p>
        </p:txBody>
      </p:sp>
      <p:sp>
        <p:nvSpPr>
          <p:cNvPr id="46" name="Rectangle 45"/>
          <p:cNvSpPr/>
          <p:nvPr/>
        </p:nvSpPr>
        <p:spPr>
          <a:xfrm>
            <a:off x="23957280" y="23015448"/>
            <a:ext cx="8476488" cy="6537960"/>
          </a:xfrm>
          <a:prstGeom prst="rect">
            <a:avLst/>
          </a:prstGeom>
          <a:solidFill>
            <a:srgbClr val="FFFFFF"/>
          </a:solidFill>
          <a:ln w="19050">
            <a:solidFill>
              <a:srgbClr val="6E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4094440" y="25438608"/>
            <a:ext cx="8202167" cy="1005840"/>
          </a:xfrm>
          <a:prstGeom prst="rect">
            <a:avLst/>
          </a:prstGeom>
          <a:noFill/>
        </p:spPr>
        <p:txBody>
          <a:bodyPr wrap="square" anchor="t">
            <a:spAutoFit/>
          </a:bodyPr>
          <a:lstStyle/>
          <a:p>
            <a:pPr algn="l">
              <a:lnSpc>
                <a:spcPct val="112000"/>
              </a:lnSpc>
              <a:spcAft>
                <a:spcPts val="600"/>
              </a:spcAft>
            </a:pPr>
            <a:r>
              <a:rPr sz="1200" b="0">
                <a:solidFill>
                  <a:srgbClr val="6E6E6E"/>
                </a:solidFill>
                <a:latin typeface="Arial"/>
              </a:rPr>
              <a:t/>
            </a:r>
          </a:p>
        </p:txBody>
      </p:sp>
      <p:sp>
        <p:nvSpPr>
          <p:cNvPr id="48" name="TextBox 47"/>
          <p:cNvSpPr txBox="1"/>
          <p:nvPr/>
        </p:nvSpPr>
        <p:spPr>
          <a:xfrm>
            <a:off x="24094440" y="29690568"/>
            <a:ext cx="8202167" cy="685800"/>
          </a:xfrm>
          <a:prstGeom prst="rect">
            <a:avLst/>
          </a:prstGeom>
          <a:noFill/>
        </p:spPr>
        <p:txBody>
          <a:bodyPr wrap="square" anchor="t">
            <a:spAutoFit/>
          </a:bodyPr>
          <a:lstStyle/>
          <a:p>
            <a:pPr algn="l">
              <a:lnSpc>
                <a:spcPct val="112000"/>
              </a:lnSpc>
              <a:spcAft>
                <a:spcPts val="600"/>
              </a:spcAft>
            </a:pPr>
            <a:r>
              <a:rPr sz="1500" b="0">
                <a:solidFill>
                  <a:srgbClr val="6E6E6E"/>
                </a:solidFill>
                <a:latin typeface="Arial"/>
              </a:rPr>
              <a:t>Fig. 3  Ablation: contribution of each mechanism to district-wide AUC.</a:t>
            </a:r>
          </a:p>
        </p:txBody>
      </p:sp>
      <p:sp>
        <p:nvSpPr>
          <p:cNvPr id="49" name="Rectangle 48"/>
          <p:cNvSpPr/>
          <p:nvPr/>
        </p:nvSpPr>
        <p:spPr>
          <a:xfrm>
            <a:off x="6455664" y="30833568"/>
            <a:ext cx="12851892" cy="5074920"/>
          </a:xfrm>
          <a:prstGeom prst="rect">
            <a:avLst/>
          </a:prstGeom>
          <a:solidFill>
            <a:srgbClr val="FFFFFF"/>
          </a:solidFill>
          <a:ln w="19050">
            <a:solidFill>
              <a:srgbClr val="6E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92824" y="35954208"/>
            <a:ext cx="12582144" cy="566928"/>
          </a:xfrm>
          <a:prstGeom prst="rect">
            <a:avLst/>
          </a:prstGeom>
          <a:noFill/>
        </p:spPr>
        <p:txBody>
          <a:bodyPr wrap="square" anchor="t">
            <a:spAutoFit/>
          </a:bodyPr>
          <a:lstStyle/>
          <a:p>
            <a:pPr algn="l">
              <a:lnSpc>
                <a:spcPct val="112000"/>
              </a:lnSpc>
              <a:spcAft>
                <a:spcPts val="600"/>
              </a:spcAft>
            </a:pPr>
            <a:r>
              <a:rPr sz="1500" b="0">
                <a:solidFill>
                  <a:srgbClr val="6E6E6E"/>
                </a:solidFill>
                <a:latin typeface="Arial"/>
              </a:rPr>
              <a:t>Fig. 4  Case study. A real settlement of 19,758 people that emitted one report where 418 were expected.</a:t>
            </a:r>
          </a:p>
        </p:txBody>
      </p:sp>
      <p:sp>
        <p:nvSpPr>
          <p:cNvPr id="51" name="Rectangle 50"/>
          <p:cNvSpPr/>
          <p:nvPr/>
        </p:nvSpPr>
        <p:spPr>
          <a:xfrm>
            <a:off x="19581876" y="30833568"/>
            <a:ext cx="12851892" cy="5074920"/>
          </a:xfrm>
          <a:prstGeom prst="rect">
            <a:avLst/>
          </a:prstGeom>
          <a:solidFill>
            <a:srgbClr val="FFFFFF"/>
          </a:solidFill>
          <a:ln w="19050">
            <a:solidFill>
              <a:srgbClr val="6E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9714464" y="35954208"/>
            <a:ext cx="12582144" cy="566928"/>
          </a:xfrm>
          <a:prstGeom prst="rect">
            <a:avLst/>
          </a:prstGeom>
          <a:noFill/>
        </p:spPr>
        <p:txBody>
          <a:bodyPr wrap="square" anchor="t">
            <a:spAutoFit/>
          </a:bodyPr>
          <a:lstStyle/>
          <a:p>
            <a:pPr algn="l">
              <a:lnSpc>
                <a:spcPct val="112000"/>
              </a:lnSpc>
              <a:spcAft>
                <a:spcPts val="600"/>
              </a:spcAft>
            </a:pPr>
            <a:r>
              <a:rPr sz="1500" b="0">
                <a:solidFill>
                  <a:srgbClr val="6E6E6E"/>
                </a:solidFill>
                <a:latin typeface="Arial"/>
              </a:rPr>
              <a:t>Fig. 5  Confusion matrix over 1,102 settlements and calibrated performance after temperature scaling.</a:t>
            </a:r>
          </a:p>
        </p:txBody>
      </p:sp>
      <p:sp>
        <p:nvSpPr>
          <p:cNvPr id="53" name="Rectangle 52"/>
          <p:cNvSpPr/>
          <p:nvPr/>
        </p:nvSpPr>
        <p:spPr>
          <a:xfrm>
            <a:off x="6108192" y="37508688"/>
            <a:ext cx="11338560" cy="6245352"/>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108192" y="37508688"/>
            <a:ext cx="11338560"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245352" y="37563552"/>
            <a:ext cx="11064240" cy="969264"/>
          </a:xfrm>
          <a:prstGeom prst="rect">
            <a:avLst/>
          </a:prstGeom>
          <a:noFill/>
        </p:spPr>
        <p:txBody>
          <a:bodyPr wrap="square" anchor="ctr">
            <a:spAutoFit/>
          </a:bodyPr>
          <a:lstStyle/>
          <a:p>
            <a:pPr algn="ctr"/>
            <a:r>
              <a:rPr sz="2400" b="1">
                <a:solidFill>
                  <a:srgbClr val="FFFFFF"/>
                </a:solidFill>
                <a:latin typeface="Arial"/>
              </a:rPr>
              <a:t>CONCLUSIONS</a:t>
            </a:r>
          </a:p>
        </p:txBody>
      </p:sp>
      <p:sp>
        <p:nvSpPr>
          <p:cNvPr id="56" name="TextBox 55"/>
          <p:cNvSpPr txBox="1"/>
          <p:nvPr/>
        </p:nvSpPr>
        <p:spPr>
          <a:xfrm>
            <a:off x="6428232" y="38843712"/>
            <a:ext cx="10698480" cy="4663440"/>
          </a:xfrm>
          <a:prstGeom prst="rect">
            <a:avLst/>
          </a:prstGeom>
          <a:noFill/>
        </p:spPr>
        <p:txBody>
          <a:bodyPr wrap="square" anchor="t">
            <a:spAutoFit/>
          </a:bodyPr>
          <a:lstStyle/>
          <a:p>
            <a:pPr algn="l">
              <a:lnSpc>
                <a:spcPct val="112000"/>
              </a:lnSpc>
              <a:spcAft>
                <a:spcPts val="600"/>
              </a:spcAft>
            </a:pPr>
            <a:r>
              <a:rPr sz="1800" b="0">
                <a:solidFill>
                  <a:srgbClr val="6E6E6E"/>
                </a:solidFill>
                <a:latin typeface="Arial"/>
              </a:rPr>
              <a:t>1.  Report volume is a hill, not a slope. Ranking by it systematically de-prioritises the highest-mortality settlements.</a:t>
            </a:r>
          </a:p>
          <a:p>
            <a:pPr algn="l">
              <a:lnSpc>
                <a:spcPct val="112000"/>
              </a:lnSpc>
              <a:spcAft>
                <a:spcPts val="600"/>
              </a:spcAft>
            </a:pPr>
            <a:r>
              <a:rPr sz="1800" b="0">
                <a:solidFill>
                  <a:srgbClr val="6E6E6E"/>
                </a:solidFill>
                <a:latin typeface="Arial"/>
              </a:rPr>
              <a:t>2.  Absence of expected communication, fused with infrastructure liveness and terrain exposure, is a usable and calibrated signal of catastrophe.</a:t>
            </a:r>
          </a:p>
          <a:p>
            <a:pPr algn="l">
              <a:lnSpc>
                <a:spcPct val="112000"/>
              </a:lnSpc>
              <a:spcAft>
                <a:spcPts val="600"/>
              </a:spcAft>
            </a:pPr>
            <a:r>
              <a:rPr sz="1800" b="0">
                <a:solidFill>
                  <a:srgbClr val="6E6E6E"/>
                </a:solidFill>
                <a:latin typeface="Arial"/>
              </a:rPr>
              <a:t>3.  On settlements that never report, report-driven triage is equivalent to a coin flip (AUC 0.500); DRISHTI achieves 0.848.</a:t>
            </a:r>
          </a:p>
          <a:p>
            <a:pPr algn="l">
              <a:lnSpc>
                <a:spcPct val="112000"/>
              </a:lnSpc>
              <a:spcAft>
                <a:spcPts val="600"/>
              </a:spcAft>
            </a:pPr>
            <a:r>
              <a:rPr sz="1800" b="0">
                <a:solidFill>
                  <a:srgbClr val="6E6E6E"/>
                </a:solidFill>
                <a:latin typeface="Arial"/>
              </a:rPr>
              <a:t>4.  The system reaches 6.0x more affected people within the golden 24 hours using the same vehicles, and wastes fewer deployments.</a:t>
            </a:r>
          </a:p>
          <a:p>
            <a:pPr algn="l">
              <a:lnSpc>
                <a:spcPct val="112000"/>
              </a:lnSpc>
              <a:spcAft>
                <a:spcPts val="600"/>
              </a:spcAft>
            </a:pPr>
            <a:r>
              <a:rPr sz="1800" b="0">
                <a:solidFill>
                  <a:srgbClr val="6E6E6E"/>
                </a:solidFill>
                <a:latin typeface="Arial"/>
              </a:rPr>
              <a:t>5.  Because it runs offline on free and open data, it is deployable where connectivity and budget are the binding constraints — the conditions that define a disaster.</a:t>
            </a:r>
          </a:p>
        </p:txBody>
      </p:sp>
      <p:sp>
        <p:nvSpPr>
          <p:cNvPr id="57" name="Rectangle 56"/>
          <p:cNvSpPr/>
          <p:nvPr/>
        </p:nvSpPr>
        <p:spPr>
          <a:xfrm>
            <a:off x="17702784" y="37508688"/>
            <a:ext cx="7360920" cy="6245352"/>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7702784" y="37508688"/>
            <a:ext cx="7360920"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7839944" y="37563552"/>
            <a:ext cx="7086600" cy="969264"/>
          </a:xfrm>
          <a:prstGeom prst="rect">
            <a:avLst/>
          </a:prstGeom>
          <a:noFill/>
        </p:spPr>
        <p:txBody>
          <a:bodyPr wrap="square" anchor="ctr">
            <a:spAutoFit/>
          </a:bodyPr>
          <a:lstStyle/>
          <a:p>
            <a:pPr algn="ctr"/>
            <a:r>
              <a:rPr sz="2400" b="1">
                <a:solidFill>
                  <a:srgbClr val="FFFFFF"/>
                </a:solidFill>
                <a:latin typeface="Arial"/>
              </a:rPr>
              <a:t>ACKNOWLEDGEMENT</a:t>
            </a:r>
          </a:p>
        </p:txBody>
      </p:sp>
      <p:sp>
        <p:nvSpPr>
          <p:cNvPr id="60" name="TextBox 59"/>
          <p:cNvSpPr txBox="1"/>
          <p:nvPr/>
        </p:nvSpPr>
        <p:spPr>
          <a:xfrm>
            <a:off x="18022824" y="38843712"/>
            <a:ext cx="6720840" cy="4663440"/>
          </a:xfrm>
          <a:prstGeom prst="rect">
            <a:avLst/>
          </a:prstGeom>
          <a:noFill/>
        </p:spPr>
        <p:txBody>
          <a:bodyPr wrap="square" anchor="t">
            <a:spAutoFit/>
          </a:bodyPr>
          <a:lstStyle/>
          <a:p>
            <a:pPr algn="l">
              <a:lnSpc>
                <a:spcPct val="112000"/>
              </a:lnSpc>
              <a:spcAft>
                <a:spcPts val="600"/>
              </a:spcAft>
            </a:pPr>
            <a:r>
              <a:rPr sz="1700" b="0">
                <a:solidFill>
                  <a:srgbClr val="6E6E6E"/>
                </a:solidFill>
                <a:latin typeface="Arial"/>
              </a:rPr>
              <a:t>Submitted to ICSIGT 2026 · AVINYA 2026 Eco-Innovate Challenge, organised by the Prakriti Club, IIT Guwahati.</a:t>
            </a:r>
          </a:p>
          <a:p>
            <a:pPr algn="l">
              <a:lnSpc>
                <a:spcPct val="112000"/>
              </a:lnSpc>
              <a:spcAft>
                <a:spcPts val="600"/>
              </a:spcAft>
            </a:pPr>
            <a:r>
              <a:rPr sz="1700" b="0">
                <a:solidFill>
                  <a:srgbClr val="6E6E6E"/>
                </a:solidFill>
                <a:latin typeface="Arial"/>
              </a:rPr>
              <a:t>We thank the OpenStreetMap contributors, Open-Meteo and the USGS for the open data this work rests on.</a:t>
            </a:r>
          </a:p>
          <a:p>
            <a:pPr algn="l">
              <a:lnSpc>
                <a:spcPct val="112000"/>
              </a:lnSpc>
              <a:spcAft>
                <a:spcPts val="600"/>
              </a:spcAft>
            </a:pPr>
            <a:r>
              <a:rPr sz="1800" b="1">
                <a:solidFill>
                  <a:srgbClr val="083070"/>
                </a:solidFill>
                <a:latin typeface="Arial"/>
              </a:rPr>
              <a:t>Team EcoGenesis  ·  MIT Licence</a:t>
            </a:r>
          </a:p>
        </p:txBody>
      </p:sp>
      <p:sp>
        <p:nvSpPr>
          <p:cNvPr id="61" name="Rectangle 60"/>
          <p:cNvSpPr/>
          <p:nvPr/>
        </p:nvSpPr>
        <p:spPr>
          <a:xfrm>
            <a:off x="25319736" y="37508688"/>
            <a:ext cx="7461504" cy="6245352"/>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25319736" y="37508688"/>
            <a:ext cx="7461504" cy="1078992"/>
          </a:xfrm>
          <a:prstGeom prst="rect">
            <a:avLst/>
          </a:prstGeom>
          <a:solidFill>
            <a:srgbClr val="083070"/>
          </a:solidFill>
          <a:ln>
            <a:solidFill>
              <a:srgbClr val="08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5456896" y="37563552"/>
            <a:ext cx="7187184" cy="969264"/>
          </a:xfrm>
          <a:prstGeom prst="rect">
            <a:avLst/>
          </a:prstGeom>
          <a:noFill/>
        </p:spPr>
        <p:txBody>
          <a:bodyPr wrap="square" anchor="ctr">
            <a:spAutoFit/>
          </a:bodyPr>
          <a:lstStyle/>
          <a:p>
            <a:pPr algn="ctr"/>
            <a:r>
              <a:rPr sz="2400" b="1">
                <a:solidFill>
                  <a:srgbClr val="FFFFFF"/>
                </a:solidFill>
                <a:latin typeface="Arial"/>
              </a:rPr>
              <a:t>REFERENCES</a:t>
            </a:r>
          </a:p>
        </p:txBody>
      </p:sp>
      <p:sp>
        <p:nvSpPr>
          <p:cNvPr id="64" name="TextBox 63"/>
          <p:cNvSpPr txBox="1"/>
          <p:nvPr/>
        </p:nvSpPr>
        <p:spPr>
          <a:xfrm>
            <a:off x="25639776" y="38843712"/>
            <a:ext cx="6821424" cy="4663440"/>
          </a:xfrm>
          <a:prstGeom prst="rect">
            <a:avLst/>
          </a:prstGeom>
          <a:noFill/>
        </p:spPr>
        <p:txBody>
          <a:bodyPr wrap="square" anchor="t">
            <a:spAutoFit/>
          </a:bodyPr>
          <a:lstStyle/>
          <a:p>
            <a:pPr algn="l">
              <a:lnSpc>
                <a:spcPct val="112000"/>
              </a:lnSpc>
              <a:spcAft>
                <a:spcPts val="600"/>
              </a:spcAft>
            </a:pPr>
            <a:r>
              <a:rPr sz="1500" b="0">
                <a:solidFill>
                  <a:srgbClr val="6E6E6E"/>
                </a:solidFill>
                <a:latin typeface="Arial"/>
              </a:rPr>
              <a:t>1.  Shafer, G. A Mathematical Theory of Evidence. Princeton Univ. Press, 1976.</a:t>
            </a:r>
          </a:p>
          <a:p>
            <a:pPr algn="l">
              <a:lnSpc>
                <a:spcPct val="112000"/>
              </a:lnSpc>
              <a:spcAft>
                <a:spcPts val="600"/>
              </a:spcAft>
            </a:pPr>
            <a:r>
              <a:rPr sz="1500" b="0">
                <a:solidFill>
                  <a:srgbClr val="6E6E6E"/>
                </a:solidFill>
                <a:latin typeface="Arial"/>
              </a:rPr>
              <a:t>2.  Imran, M. et al. Processing social media messages in mass emergency: a survey. ACM Comput. Surv. 47(4), 2015.</a:t>
            </a:r>
          </a:p>
          <a:p>
            <a:pPr algn="l">
              <a:lnSpc>
                <a:spcPct val="112000"/>
              </a:lnSpc>
              <a:spcAft>
                <a:spcPts val="600"/>
              </a:spcAft>
            </a:pPr>
            <a:r>
              <a:rPr sz="1500" b="0">
                <a:solidFill>
                  <a:srgbClr val="6E6E6E"/>
                </a:solidFill>
                <a:latin typeface="Arial"/>
              </a:rPr>
              <a:t>3.  Wald, D. J. et al. Relationships between peak ground acceleration, peak ground velocity and Modified Mercalli Intensity. Earthquake Spectra 15(3), 1999.</a:t>
            </a:r>
          </a:p>
          <a:p>
            <a:pPr algn="l">
              <a:lnSpc>
                <a:spcPct val="112000"/>
              </a:lnSpc>
              <a:spcAft>
                <a:spcPts val="600"/>
              </a:spcAft>
            </a:pPr>
            <a:r>
              <a:rPr sz="1500" b="0">
                <a:solidFill>
                  <a:srgbClr val="6E6E6E"/>
                </a:solidFill>
                <a:latin typeface="Arial"/>
              </a:rPr>
              <a:t>4.  National Disaster Management Authority. National Disaster Management Plan. Govt. of India, 2019.</a:t>
            </a:r>
          </a:p>
          <a:p>
            <a:pPr algn="l">
              <a:lnSpc>
                <a:spcPct val="112000"/>
              </a:lnSpc>
              <a:spcAft>
                <a:spcPts val="600"/>
              </a:spcAft>
            </a:pPr>
            <a:r>
              <a:rPr sz="1500" b="0">
                <a:solidFill>
                  <a:srgbClr val="6E6E6E"/>
                </a:solidFill>
                <a:latin typeface="Arial"/>
              </a:rPr>
              <a:t>5.  OpenStreetMap contributors. Planet dump, 2026. openstreetmap.org</a:t>
            </a:r>
          </a:p>
          <a:p>
            <a:pPr algn="l">
              <a:lnSpc>
                <a:spcPct val="112000"/>
              </a:lnSpc>
              <a:spcAft>
                <a:spcPts val="600"/>
              </a:spcAft>
            </a:pPr>
            <a:r>
              <a:rPr sz="1500" b="0">
                <a:solidFill>
                  <a:srgbClr val="6E6E6E"/>
                </a:solidFill>
                <a:latin typeface="Arial"/>
              </a:rPr>
              <a:t>6.  Open-Meteo. Free weather and elevation API, 2026. open-meteo.com</a:t>
            </a:r>
          </a:p>
          <a:p>
            <a:pPr algn="l">
              <a:lnSpc>
                <a:spcPct val="112000"/>
              </a:lnSpc>
              <a:spcAft>
                <a:spcPts val="600"/>
              </a:spcAft>
            </a:pPr>
            <a:r>
              <a:rPr sz="1500" b="0">
                <a:solidFill>
                  <a:srgbClr val="6E6E6E"/>
                </a:solidFill>
                <a:latin typeface="Arial"/>
              </a:rPr>
              <a:t>7.  USGS. ANSS Comprehensive Earthquake Catalog (ComCat), 2026.</a:t>
            </a:r>
          </a:p>
        </p:txBody>
      </p:sp>
      <p:pic>
        <p:nvPicPr>
          <p:cNvPr id="65" name="Picture 64" descr="Prakriti Club IIT Guwahati">
            <a:extLst>
              <a:ext uri="{FF2B5EF4-FFF2-40B4-BE49-F238E27FC236}">
                <a16:creationId xmlns:a16="http://schemas.microsoft.com/office/drawing/2014/main" id="{4D024035-8ACB-4CD2-3C81-D822C860D18E}"/>
              </a:ext>
            </a:extLst>
          </p:cNvPr>
          <p:cNvPicPr>
            <a:picLocks noChangeAspect="1"/>
          </p:cNvPicPr>
          <p:nvPr/>
        </p:nvPicPr>
        <p:blipFill>
          <a:blip r:embed="rId2"/>
          <a:stretch>
            <a:fillRect/>
          </a:stretch>
        </p:blipFill>
        <p:spPr>
          <a:xfrm>
            <a:off x="1069022" y="1146429"/>
            <a:ext cx="4257675" cy="4257675"/>
          </a:xfrm>
          <a:prstGeom prst="rect">
            <a:avLst/>
          </a:prstGeom>
        </p:spPr>
      </p:pic>
      <p:pic>
        <p:nvPicPr>
          <p:cNvPr id="66" name="Picture 65">
            <a:extLst>
              <a:ext uri="{FF2B5EF4-FFF2-40B4-BE49-F238E27FC236}">
                <a16:creationId xmlns:a16="http://schemas.microsoft.com/office/drawing/2014/main" id="{DC93C842-9752-682F-3D47-6B995E63A287}"/>
              </a:ext>
            </a:extLst>
          </p:cNvPr>
          <p:cNvPicPr>
            <a:picLocks noChangeAspect="1"/>
          </p:cNvPicPr>
          <p:nvPr/>
        </p:nvPicPr>
        <p:blipFill>
          <a:blip r:embed="rId3"/>
          <a:stretch>
            <a:fillRect/>
          </a:stretch>
        </p:blipFill>
        <p:spPr>
          <a:xfrm>
            <a:off x="27570176" y="1234727"/>
            <a:ext cx="4093205" cy="4111561"/>
          </a:xfrm>
          <a:prstGeom prst="rect">
            <a:avLst/>
          </a:prstGeom>
        </p:spPr>
      </p:pic>
      <p:sp>
        <p:nvSpPr>
          <p:cNvPr id="68" name="TextBox 67">
            <a:extLst>
              <a:ext uri="{FF2B5EF4-FFF2-40B4-BE49-F238E27FC236}">
                <a16:creationId xmlns:a16="http://schemas.microsoft.com/office/drawing/2014/main" id="{4A5C9643-E487-E4C3-0620-7A4B0BD1FCFF}"/>
              </a:ext>
            </a:extLst>
          </p:cNvPr>
          <p:cNvSpPr txBox="1"/>
          <p:nvPr/>
        </p:nvSpPr>
        <p:spPr>
          <a:xfrm>
            <a:off x="10744097" y="1935280"/>
            <a:ext cx="11678787" cy="400110"/>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1</a:t>
            </a:r>
            <a:r>
              <a:rPr lang="en-US" sz="2000" b="1" baseline="30000" dirty="0">
                <a:latin typeface="Arial" panose="020B0604020202020204" pitchFamily="34" charset="0"/>
                <a:cs typeface="Arial" panose="020B0604020202020204" pitchFamily="34" charset="0"/>
              </a:rPr>
              <a:t>st</a:t>
            </a:r>
            <a:r>
              <a:rPr lang="en-US" sz="2000" b="1" dirty="0">
                <a:latin typeface="Arial" panose="020B0604020202020204" pitchFamily="34" charset="0"/>
                <a:cs typeface="Arial" panose="020B0604020202020204" pitchFamily="34" charset="0"/>
              </a:rPr>
              <a:t> International Conference on Sustainable Innovation and Green Technologies (ICSIGT 2026)  </a:t>
            </a:r>
          </a:p>
        </p:txBody>
      </p:sp>
      <p:sp>
        <p:nvSpPr>
          <p:cNvPr id="69" name="TextBox 68">
            <a:extLst>
              <a:ext uri="{FF2B5EF4-FFF2-40B4-BE49-F238E27FC236}">
                <a16:creationId xmlns:a16="http://schemas.microsoft.com/office/drawing/2014/main" id="{205661CD-169B-265F-0A7B-3E78107CA302}"/>
              </a:ext>
            </a:extLst>
          </p:cNvPr>
          <p:cNvSpPr txBox="1"/>
          <p:nvPr/>
        </p:nvSpPr>
        <p:spPr>
          <a:xfrm>
            <a:off x="11679937" y="912262"/>
            <a:ext cx="9173463" cy="954107"/>
          </a:xfrm>
          <a:prstGeom prst="rect">
            <a:avLst/>
          </a:prstGeom>
          <a:noFill/>
        </p:spPr>
        <p:txBody>
          <a:bodyPr wrap="square" rtlCol="0">
            <a:spAutoFit/>
          </a:bodyPr>
          <a:lstStyle/>
          <a:p>
            <a:pPr algn="ctr"/>
            <a:r>
              <a:rPr lang="en-US" sz="2800" b="1" dirty="0">
                <a:solidFill>
                  <a:schemeClr val="tx2"/>
                </a:solidFill>
                <a:latin typeface="Arial" panose="020B0604020202020204" pitchFamily="34" charset="0"/>
                <a:cs typeface="Arial" panose="020B0604020202020204" pitchFamily="34" charset="0"/>
              </a:rPr>
              <a:t>AVINYA 2026</a:t>
            </a:r>
          </a:p>
          <a:p>
            <a:pPr algn="ctr"/>
            <a:r>
              <a:rPr lang="en-US" sz="2800" i="1" dirty="0">
                <a:solidFill>
                  <a:srgbClr val="00B050"/>
                </a:solidFill>
                <a:latin typeface="Arial" panose="020B0604020202020204" pitchFamily="34" charset="0"/>
                <a:cs typeface="Arial" panose="020B0604020202020204" pitchFamily="34" charset="0"/>
              </a:rPr>
              <a:t>Eco-Innovate Challenge</a:t>
            </a:r>
          </a:p>
        </p:txBody>
      </p:sp>
      <p:pic>
        <p:nvPicPr>
          <p:cNvPr id="70" name="Picture 69" descr="motivation.png"/>
          <p:cNvPicPr>
            <a:picLocks noChangeAspect="1"/>
          </p:cNvPicPr>
          <p:nvPr/>
        </p:nvPicPr>
        <p:blipFill>
          <a:blip r:embed="rId4"/>
          <a:stretch>
            <a:fillRect/>
          </a:stretch>
        </p:blipFill>
        <p:spPr>
          <a:xfrm>
            <a:off x="7412779" y="7178040"/>
            <a:ext cx="10969665" cy="5843016"/>
          </a:xfrm>
          <a:prstGeom prst="rect">
            <a:avLst/>
          </a:prstGeom>
        </p:spPr>
      </p:pic>
      <p:pic>
        <p:nvPicPr>
          <p:cNvPr id="71" name="Picture 70" descr="method.png"/>
          <p:cNvPicPr>
            <a:picLocks noChangeAspect="1"/>
          </p:cNvPicPr>
          <p:nvPr/>
        </p:nvPicPr>
        <p:blipFill>
          <a:blip r:embed="rId5"/>
          <a:stretch>
            <a:fillRect/>
          </a:stretch>
        </p:blipFill>
        <p:spPr>
          <a:xfrm>
            <a:off x="6608491" y="15133320"/>
            <a:ext cx="9103521" cy="5797296"/>
          </a:xfrm>
          <a:prstGeom prst="rect">
            <a:avLst/>
          </a:prstGeom>
        </p:spPr>
      </p:pic>
      <p:pic>
        <p:nvPicPr>
          <p:cNvPr id="72" name="Picture 71" descr="setup.png"/>
          <p:cNvPicPr>
            <a:picLocks noChangeAspect="1"/>
          </p:cNvPicPr>
          <p:nvPr/>
        </p:nvPicPr>
        <p:blipFill>
          <a:blip r:embed="rId6"/>
          <a:stretch>
            <a:fillRect/>
          </a:stretch>
        </p:blipFill>
        <p:spPr>
          <a:xfrm>
            <a:off x="17282129" y="15133320"/>
            <a:ext cx="7379269" cy="5797296"/>
          </a:xfrm>
          <a:prstGeom prst="rect">
            <a:avLst/>
          </a:prstGeom>
        </p:spPr>
      </p:pic>
      <p:pic>
        <p:nvPicPr>
          <p:cNvPr id="73" name="Picture 72" descr="mechanism.png"/>
          <p:cNvPicPr>
            <a:picLocks noChangeAspect="1"/>
          </p:cNvPicPr>
          <p:nvPr/>
        </p:nvPicPr>
        <p:blipFill>
          <a:blip r:embed="rId7"/>
          <a:stretch>
            <a:fillRect/>
          </a:stretch>
        </p:blipFill>
        <p:spPr>
          <a:xfrm>
            <a:off x="26179272" y="15150509"/>
            <a:ext cx="6153912" cy="5762917"/>
          </a:xfrm>
          <a:prstGeom prst="rect">
            <a:avLst/>
          </a:prstGeom>
        </p:spPr>
      </p:pic>
      <p:pic>
        <p:nvPicPr>
          <p:cNvPr id="74" name="Picture 73" descr="reached.png"/>
          <p:cNvPicPr>
            <a:picLocks noChangeAspect="1"/>
          </p:cNvPicPr>
          <p:nvPr/>
        </p:nvPicPr>
        <p:blipFill>
          <a:blip r:embed="rId8"/>
          <a:stretch>
            <a:fillRect/>
          </a:stretch>
        </p:blipFill>
        <p:spPr>
          <a:xfrm>
            <a:off x="6583679" y="23574190"/>
            <a:ext cx="8220456" cy="5420475"/>
          </a:xfrm>
          <a:prstGeom prst="rect">
            <a:avLst/>
          </a:prstGeom>
        </p:spPr>
      </p:pic>
      <p:pic>
        <p:nvPicPr>
          <p:cNvPr id="75" name="Picture 74" descr="blind.png"/>
          <p:cNvPicPr>
            <a:picLocks noChangeAspect="1"/>
          </p:cNvPicPr>
          <p:nvPr/>
        </p:nvPicPr>
        <p:blipFill>
          <a:blip r:embed="rId9"/>
          <a:stretch>
            <a:fillRect/>
          </a:stretch>
        </p:blipFill>
        <p:spPr>
          <a:xfrm>
            <a:off x="15334488" y="23419585"/>
            <a:ext cx="8220456" cy="5729685"/>
          </a:xfrm>
          <a:prstGeom prst="rect">
            <a:avLst/>
          </a:prstGeom>
        </p:spPr>
      </p:pic>
      <p:pic>
        <p:nvPicPr>
          <p:cNvPr id="76" name="Picture 75" descr="ablation.png"/>
          <p:cNvPicPr>
            <a:picLocks noChangeAspect="1"/>
          </p:cNvPicPr>
          <p:nvPr/>
        </p:nvPicPr>
        <p:blipFill>
          <a:blip r:embed="rId10"/>
          <a:stretch>
            <a:fillRect/>
          </a:stretch>
        </p:blipFill>
        <p:spPr>
          <a:xfrm>
            <a:off x="24085296" y="23604905"/>
            <a:ext cx="8220456" cy="5359045"/>
          </a:xfrm>
          <a:prstGeom prst="rect">
            <a:avLst/>
          </a:prstGeom>
        </p:spPr>
      </p:pic>
      <p:pic>
        <p:nvPicPr>
          <p:cNvPr id="77" name="Picture 76" descr="agastmuni.png"/>
          <p:cNvPicPr>
            <a:picLocks noChangeAspect="1"/>
          </p:cNvPicPr>
          <p:nvPr/>
        </p:nvPicPr>
        <p:blipFill>
          <a:blip r:embed="rId11"/>
          <a:stretch>
            <a:fillRect/>
          </a:stretch>
        </p:blipFill>
        <p:spPr>
          <a:xfrm>
            <a:off x="6592181" y="30961584"/>
            <a:ext cx="12574285" cy="4818888"/>
          </a:xfrm>
          <a:prstGeom prst="rect">
            <a:avLst/>
          </a:prstGeom>
        </p:spPr>
      </p:pic>
      <p:pic>
        <p:nvPicPr>
          <p:cNvPr id="78" name="Picture 77" descr="confusion.png"/>
          <p:cNvPicPr>
            <a:picLocks noChangeAspect="1"/>
          </p:cNvPicPr>
          <p:nvPr/>
        </p:nvPicPr>
        <p:blipFill>
          <a:blip r:embed="rId12"/>
          <a:stretch>
            <a:fillRect/>
          </a:stretch>
        </p:blipFill>
        <p:spPr>
          <a:xfrm>
            <a:off x="19880833" y="30961584"/>
            <a:ext cx="12240261" cy="4818887"/>
          </a:xfrm>
          <a:prstGeom prst="rect">
            <a:avLst/>
          </a:prstGeom>
        </p:spPr>
      </p:pic>
      <p:pic>
        <p:nvPicPr>
          <p:cNvPr id="79" name="Picture 78" descr="qr_demo.png"/>
          <p:cNvPicPr>
            <a:picLocks noChangeAspect="1"/>
          </p:cNvPicPr>
          <p:nvPr/>
        </p:nvPicPr>
        <p:blipFill>
          <a:blip r:embed="rId13"/>
          <a:stretch>
            <a:fillRect/>
          </a:stretch>
        </p:blipFill>
        <p:spPr>
          <a:xfrm>
            <a:off x="19376136" y="41074848"/>
            <a:ext cx="1572768" cy="1572768"/>
          </a:xfrm>
          <a:prstGeom prst="rect">
            <a:avLst/>
          </a:prstGeom>
        </p:spPr>
      </p:pic>
      <p:pic>
        <p:nvPicPr>
          <p:cNvPr id="80" name="Picture 79" descr="qr_repo.png"/>
          <p:cNvPicPr>
            <a:picLocks noChangeAspect="1"/>
          </p:cNvPicPr>
          <p:nvPr/>
        </p:nvPicPr>
        <p:blipFill>
          <a:blip r:embed="rId14"/>
          <a:stretch>
            <a:fillRect/>
          </a:stretch>
        </p:blipFill>
        <p:spPr>
          <a:xfrm>
            <a:off x="21817584" y="41074848"/>
            <a:ext cx="1572768" cy="1572768"/>
          </a:xfrm>
          <a:prstGeom prst="rect">
            <a:avLst/>
          </a:prstGeom>
        </p:spPr>
      </p:pic>
      <p:sp>
        <p:nvSpPr>
          <p:cNvPr id="81" name="TextBox 80"/>
          <p:cNvSpPr txBox="1"/>
          <p:nvPr/>
        </p:nvSpPr>
        <p:spPr>
          <a:xfrm>
            <a:off x="18836640" y="42739056"/>
            <a:ext cx="2651760" cy="868680"/>
          </a:xfrm>
          <a:prstGeom prst="rect">
            <a:avLst/>
          </a:prstGeom>
          <a:noFill/>
        </p:spPr>
        <p:txBody>
          <a:bodyPr wrap="square" anchor="t">
            <a:spAutoFit/>
          </a:bodyPr>
          <a:lstStyle/>
          <a:p>
            <a:pPr algn="ctr">
              <a:lnSpc>
                <a:spcPct val="112000"/>
              </a:lnSpc>
              <a:spcAft>
                <a:spcPts val="600"/>
              </a:spcAft>
            </a:pPr>
            <a:r>
              <a:rPr sz="1400" b="1">
                <a:solidFill>
                  <a:srgbClr val="00B050"/>
                </a:solidFill>
                <a:latin typeface="Arial"/>
              </a:rPr>
              <a:t>LIVE DASHBOARD</a:t>
            </a:r>
          </a:p>
          <a:p>
            <a:pPr algn="ctr">
              <a:lnSpc>
                <a:spcPct val="112000"/>
              </a:lnSpc>
              <a:spcAft>
                <a:spcPts val="600"/>
              </a:spcAft>
            </a:pPr>
            <a:r>
              <a:rPr sz="1000" b="0">
                <a:solidFill>
                  <a:srgbClr val="6E6E6E"/>
                </a:solidFill>
                <a:latin typeface="Arial"/>
              </a:rPr>
              <a:t>realgauravvyas.github.io
/drishti</a:t>
            </a:r>
          </a:p>
        </p:txBody>
      </p:sp>
      <p:sp>
        <p:nvSpPr>
          <p:cNvPr id="82" name="TextBox 81"/>
          <p:cNvSpPr txBox="1"/>
          <p:nvPr/>
        </p:nvSpPr>
        <p:spPr>
          <a:xfrm>
            <a:off x="21278088" y="42739056"/>
            <a:ext cx="2651760" cy="868680"/>
          </a:xfrm>
          <a:prstGeom prst="rect">
            <a:avLst/>
          </a:prstGeom>
          <a:noFill/>
        </p:spPr>
        <p:txBody>
          <a:bodyPr wrap="square" anchor="t">
            <a:spAutoFit/>
          </a:bodyPr>
          <a:lstStyle/>
          <a:p>
            <a:pPr algn="ctr">
              <a:lnSpc>
                <a:spcPct val="112000"/>
              </a:lnSpc>
              <a:spcAft>
                <a:spcPts val="600"/>
              </a:spcAft>
            </a:pPr>
            <a:r>
              <a:rPr sz="1400" b="1">
                <a:solidFill>
                  <a:srgbClr val="083070"/>
                </a:solidFill>
                <a:latin typeface="Arial"/>
              </a:rPr>
              <a:t>SOURCE CODE</a:t>
            </a:r>
          </a:p>
          <a:p>
            <a:pPr algn="ctr">
              <a:lnSpc>
                <a:spcPct val="112000"/>
              </a:lnSpc>
              <a:spcAft>
                <a:spcPts val="600"/>
              </a:spcAft>
            </a:pPr>
            <a:r>
              <a:rPr sz="1000" b="0">
                <a:solidFill>
                  <a:srgbClr val="6E6E6E"/>
                </a:solidFill>
                <a:latin typeface="Arial"/>
              </a:rPr>
              <a:t>github.com/realgauravvyas
/drishti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